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gwTmYekyiML38POVrF9Uq2Vwa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3039368" y="756345"/>
            <a:ext cx="3065264" cy="312390"/>
          </a:xfrm>
          <a:prstGeom prst="roundRect">
            <a:avLst>
              <a:gd fmla="val 12196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241887" y="832545"/>
            <a:ext cx="266022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OST - MACHINE LEARNING PROJEKT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443176" y="1524000"/>
            <a:ext cx="4363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Georgia"/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SignNet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242710" y="2306985"/>
            <a:ext cx="465843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Sign Language Recognition 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191000" y="3133725"/>
            <a:ext cx="7620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414186" y="3695700"/>
            <a:ext cx="2315629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Roman Schläpfer &amp; Andrei Chirila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22658" y="4213771"/>
            <a:ext cx="89868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Dezember 2025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Agenda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381000" y="2088803"/>
            <a:ext cx="304800" cy="304800"/>
          </a:xfrm>
          <a:prstGeom prst="roundRect">
            <a:avLst>
              <a:gd fmla="val 300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95300" y="2134493"/>
            <a:ext cx="77724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38200" y="2088803"/>
            <a:ext cx="142590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Phase 1: Static Sign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38200" y="2326928"/>
            <a:ext cx="142590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Fingeralphabet Recognition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81000" y="2677418"/>
            <a:ext cx="304800" cy="304800"/>
          </a:xfrm>
          <a:prstGeom prst="roundRect">
            <a:avLst>
              <a:gd fmla="val 300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95300" y="2723108"/>
            <a:ext cx="77724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38200" y="2677418"/>
            <a:ext cx="167637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Phoenix Dataset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38200" y="2915543"/>
            <a:ext cx="167637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Landmark Extraktion aus Videos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81000" y="3266033"/>
            <a:ext cx="304800" cy="304800"/>
          </a:xfrm>
          <a:prstGeom prst="roundRect">
            <a:avLst>
              <a:gd fmla="val 300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95300" y="3311723"/>
            <a:ext cx="77724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38200" y="3266033"/>
            <a:ext cx="189224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Wort-Extraktion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38200" y="3504158"/>
            <a:ext cx="189224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Gloss Segmentierung und NPZ Files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762500" y="2088803"/>
            <a:ext cx="304800" cy="304800"/>
          </a:xfrm>
          <a:prstGeom prst="roundRect">
            <a:avLst>
              <a:gd fmla="val 30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76800" y="2134493"/>
            <a:ext cx="77724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219700" y="2088803"/>
            <a:ext cx="150544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Model Architektur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219700" y="2326928"/>
            <a:ext cx="150544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Transformer mit Handedness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762500" y="2677418"/>
            <a:ext cx="304800" cy="304800"/>
          </a:xfrm>
          <a:prstGeom prst="roundRect">
            <a:avLst>
              <a:gd fmla="val 30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876800" y="2723108"/>
            <a:ext cx="77724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219700" y="2677418"/>
            <a:ext cx="192473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Optimierungen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219700" y="2915543"/>
            <a:ext cx="192473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Balanced Softmax und Oversampling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762500" y="3266033"/>
            <a:ext cx="304800" cy="304800"/>
          </a:xfrm>
          <a:prstGeom prst="roundRect">
            <a:avLst>
              <a:gd fmla="val 30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876800" y="3311723"/>
            <a:ext cx="77724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219700" y="3266033"/>
            <a:ext cx="173573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Ergebnisse und Ausblick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219700" y="3504158"/>
            <a:ext cx="173573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+11.4% Accuracy Improvement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381000" y="304800"/>
            <a:ext cx="854964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81000" y="527596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Static Sign Recognition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81000" y="908596"/>
            <a:ext cx="854964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Deutsches Fingeralphabet mit CNN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81000" y="1618357"/>
            <a:ext cx="4846290" cy="899071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3"/>
          <p:cNvCxnSpPr/>
          <p:nvPr/>
        </p:nvCxnSpPr>
        <p:spPr>
          <a:xfrm>
            <a:off x="400050" y="1618357"/>
            <a:ext cx="0" cy="899071"/>
          </a:xfrm>
          <a:prstGeom prst="straightConnector1">
            <a:avLst/>
          </a:prstGeom>
          <a:noFill/>
          <a:ln cap="flat" cmpd="sng" w="38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3"/>
          <p:cNvSpPr/>
          <p:nvPr/>
        </p:nvSpPr>
        <p:spPr>
          <a:xfrm>
            <a:off x="571500" y="1770757"/>
            <a:ext cx="459345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ZIEL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71500" y="1993553"/>
            <a:ext cx="459345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Erkennung des deutschen Fingeralphabets (24 Gesten) in Echtzeit mit mindestens 24 FPS auf Consumer-Hardware.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81000" y="2669828"/>
            <a:ext cx="4846290" cy="899071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3"/>
          <p:cNvCxnSpPr/>
          <p:nvPr/>
        </p:nvCxnSpPr>
        <p:spPr>
          <a:xfrm>
            <a:off x="400050" y="2669828"/>
            <a:ext cx="0" cy="899071"/>
          </a:xfrm>
          <a:prstGeom prst="straightConnector1">
            <a:avLst/>
          </a:prstGeom>
          <a:noFill/>
          <a:ln cap="flat" cmpd="sng" w="38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3"/>
          <p:cNvSpPr/>
          <p:nvPr/>
        </p:nvSpPr>
        <p:spPr>
          <a:xfrm>
            <a:off x="571500" y="2822228"/>
            <a:ext cx="459345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ANSATZ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71500" y="3045023"/>
            <a:ext cx="459345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MediaPipe Hand Tracking → Bildvorverarbeitung → CNN Klassifikation (SLRNet-8 adaptiert)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81000" y="3721298"/>
            <a:ext cx="4846290" cy="899071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3"/>
          <p:cNvCxnSpPr/>
          <p:nvPr/>
        </p:nvCxnSpPr>
        <p:spPr>
          <a:xfrm>
            <a:off x="400050" y="3721298"/>
            <a:ext cx="0" cy="899071"/>
          </a:xfrm>
          <a:prstGeom prst="straightConnector1">
            <a:avLst/>
          </a:prstGeom>
          <a:noFill/>
          <a:ln cap="flat" cmpd="sng" w="381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3"/>
          <p:cNvSpPr/>
          <p:nvPr/>
        </p:nvSpPr>
        <p:spPr>
          <a:xfrm>
            <a:off x="571500" y="3873698"/>
            <a:ext cx="459345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DATENSATZ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71500" y="4096494"/>
            <a:ext cx="459345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Eigens erstellter Datensatz: 2.500 Bilder (100 pro Buchstabe) mit konsistenter Beleuchtung.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532090" y="1728788"/>
            <a:ext cx="3230910" cy="1386632"/>
          </a:xfrm>
          <a:prstGeom prst="roundRect">
            <a:avLst>
              <a:gd fmla="val 5495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694091" y="1919288"/>
            <a:ext cx="290690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694091" y="2142083"/>
            <a:ext cx="2906908" cy="56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Georgia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99.6%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694091" y="2778323"/>
            <a:ext cx="290690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auf Testdaten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532090" y="3229719"/>
            <a:ext cx="1558379" cy="777180"/>
          </a:xfrm>
          <a:prstGeom prst="roundRect">
            <a:avLst>
              <a:gd fmla="val 980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662239" y="3372594"/>
            <a:ext cx="129808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FPS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662239" y="3544044"/>
            <a:ext cx="129808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25+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204770" y="3229719"/>
            <a:ext cx="1558379" cy="777180"/>
          </a:xfrm>
          <a:prstGeom prst="roundRect">
            <a:avLst>
              <a:gd fmla="val 980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334918" y="3372594"/>
            <a:ext cx="129808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GESTEN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334918" y="3544044"/>
            <a:ext cx="129808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24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532090" y="4121200"/>
            <a:ext cx="3230910" cy="388590"/>
          </a:xfrm>
          <a:prstGeom prst="roundRect">
            <a:avLst>
              <a:gd fmla="val 19609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616367" y="4235500"/>
            <a:ext cx="306235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Phase 1 erfolgreich abgeschlossen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381000" y="304800"/>
            <a:ext cx="854964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81000" y="527600"/>
            <a:ext cx="5174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Weiter zum Phoenix Dataset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81000" y="908596"/>
            <a:ext cx="854964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Von statischen Gesten zu kontinuierlicher Gebärdensprache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81000" y="1940272"/>
            <a:ext cx="3671441" cy="950416"/>
          </a:xfrm>
          <a:prstGeom prst="roundRect">
            <a:avLst>
              <a:gd fmla="val 8018" name="adj"/>
            </a:avLst>
          </a:prstGeom>
          <a:solidFill>
            <a:srgbClr val="FFFFFF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52450" y="2111722"/>
            <a:ext cx="339511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PHASE 1 - ABGESCHLOSSEN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52450" y="2315468"/>
            <a:ext cx="339511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Fingeralphabet (24 statische Gesten)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52450" y="2559248"/>
            <a:ext cx="339511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99.6% Accuracy erreicht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9f68acfa.png" id="97" name="Google Shape;9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043089"/>
            <a:ext cx="190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381000" y="3385989"/>
            <a:ext cx="3671441" cy="912316"/>
          </a:xfrm>
          <a:prstGeom prst="roundRect">
            <a:avLst>
              <a:gd fmla="val 8352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33400" y="3538389"/>
            <a:ext cx="343397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2 - AKTUELL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33400" y="3742134"/>
            <a:ext cx="343397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RWTH-PHOENIX-2014 Dataset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33400" y="3985915"/>
            <a:ext cx="343397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Kontinuierliche Gebärdenerkennung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357241" y="2006054"/>
            <a:ext cx="4405759" cy="912168"/>
          </a:xfrm>
          <a:prstGeom prst="roundRect">
            <a:avLst>
              <a:gd fmla="val 8354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509641" y="2158454"/>
            <a:ext cx="418297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RWTH-PHOENIX-2014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509641" y="2400300"/>
            <a:ext cx="4182978" cy="36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Benchmark-Dataset für kontinuierliche deutsche Gebärdenspracherkennung. Aufnahmen von Wetternachrichten mit mehreren Signers.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357241" y="3032522"/>
            <a:ext cx="1392436" cy="6858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469618" y="3156347"/>
            <a:ext cx="116768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SAMPLES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469618" y="3327797"/>
            <a:ext cx="116768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6,830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863977" y="3032522"/>
            <a:ext cx="1392436" cy="6858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976354" y="3156347"/>
            <a:ext cx="116768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FRAMES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976354" y="3327797"/>
            <a:ext cx="116768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~963k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7370713" y="3032522"/>
            <a:ext cx="1392436" cy="6858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483090" y="3156347"/>
            <a:ext cx="116768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SIGNER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83090" y="3327797"/>
            <a:ext cx="116768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357241" y="3832622"/>
            <a:ext cx="4405759" cy="400050"/>
          </a:xfrm>
          <a:prstGeom prst="roundRect">
            <a:avLst>
              <a:gd fmla="val 19048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4376291" y="3832622"/>
            <a:ext cx="0" cy="400050"/>
          </a:xfrm>
          <a:prstGeom prst="straightConnector1">
            <a:avLst/>
          </a:prstGeom>
          <a:noFill/>
          <a:ln cap="flat" cmpd="sng" w="381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4"/>
          <p:cNvSpPr/>
          <p:nvPr/>
        </p:nvSpPr>
        <p:spPr>
          <a:xfrm>
            <a:off x="4509641" y="3946922"/>
            <a:ext cx="42218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Herausforderung: Kontinuierliche Gebärden, Co-Artikulation, Signer-Variabilität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381000" y="3048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Landmark Extraktion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81000" y="685800"/>
            <a:ext cx="854964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MediaPipe Features aus Video-Sequenzen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81000" y="1580406"/>
            <a:ext cx="540576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81000" y="1854696"/>
            <a:ext cx="622548" cy="560040"/>
          </a:xfrm>
          <a:prstGeom prst="roundRect">
            <a:avLst>
              <a:gd fmla="val 10205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30223" y="1968996"/>
            <a:ext cx="32410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30223" y="2167086"/>
            <a:ext cx="32410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25 FPS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117848" y="2014686"/>
            <a:ext cx="174879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403598" y="1854696"/>
            <a:ext cx="844897" cy="560040"/>
          </a:xfrm>
          <a:prstGeom prst="roundRect">
            <a:avLst>
              <a:gd fmla="val 10205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550597" y="1968996"/>
            <a:ext cx="55089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MediaPipe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550597" y="2167086"/>
            <a:ext cx="55089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Holistic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2362795" y="2014686"/>
            <a:ext cx="174879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2648545" y="1854696"/>
            <a:ext cx="775990" cy="560040"/>
          </a:xfrm>
          <a:prstGeom prst="roundRect">
            <a:avLst>
              <a:gd fmla="val 10205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2796233" y="1968996"/>
            <a:ext cx="48061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NPZ File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796233" y="2167086"/>
            <a:ext cx="48061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Landmarks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81000" y="2529036"/>
            <a:ext cx="5299770" cy="1005632"/>
          </a:xfrm>
          <a:prstGeom prst="roundRect">
            <a:avLst>
              <a:gd fmla="val 757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23875" y="2671911"/>
            <a:ext cx="511430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EXTRAHIERTE FEATURES (543 Landmarks × 3 Coords)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23875" y="2913757"/>
            <a:ext cx="641747" cy="478036"/>
          </a:xfrm>
          <a:prstGeom prst="roundRect">
            <a:avLst>
              <a:gd fmla="val 7970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38175" y="2989957"/>
            <a:ext cx="42141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Left Hand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38175" y="3142357"/>
            <a:ext cx="42141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21 × 3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241822" y="2913757"/>
            <a:ext cx="705148" cy="478036"/>
          </a:xfrm>
          <a:prstGeom prst="roundRect">
            <a:avLst>
              <a:gd fmla="val 7970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356122" y="2989957"/>
            <a:ext cx="48607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Right Hand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1356122" y="3142357"/>
            <a:ext cx="48607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21 × 3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2023170" y="2913757"/>
            <a:ext cx="576411" cy="478036"/>
          </a:xfrm>
          <a:prstGeom prst="roundRect">
            <a:avLst>
              <a:gd fmla="val 797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2137470" y="2989957"/>
            <a:ext cx="35476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Pose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2137470" y="3142357"/>
            <a:ext cx="35476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33 × 3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2675781" y="2913757"/>
            <a:ext cx="645319" cy="478036"/>
          </a:xfrm>
          <a:prstGeom prst="roundRect">
            <a:avLst>
              <a:gd fmla="val 797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790081" y="2989957"/>
            <a:ext cx="42505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Face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2790081" y="3142357"/>
            <a:ext cx="425053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468 × 3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81000" y="3648968"/>
            <a:ext cx="5299770" cy="786557"/>
          </a:xfrm>
          <a:prstGeom prst="roundRect">
            <a:avLst>
              <a:gd fmla="val 9688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44588" y="3763268"/>
            <a:ext cx="5172593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TOTAL FEATURES PRO FRAME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44588" y="3947964"/>
            <a:ext cx="5172593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1,659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909370" y="1655564"/>
            <a:ext cx="291070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NPZ STRUKTUR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909370" y="1929854"/>
            <a:ext cx="2853630" cy="1525637"/>
          </a:xfrm>
          <a:prstGeom prst="roundRect">
            <a:avLst>
              <a:gd fmla="val 499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042720" y="2063204"/>
            <a:ext cx="263866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Pro Video-Sequenz: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042720" y="2272754"/>
            <a:ext cx="263866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25"/>
              <a:buFont typeface="Courier New"/>
              <a:buNone/>
            </a:pPr>
            <a:r>
              <a:rPr b="0" i="0" lang="en-US" sz="825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landmarks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6042720" y="2438400"/>
            <a:ext cx="263866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(T, 543, 2)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042720" y="2647950"/>
            <a:ext cx="263866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25"/>
              <a:buFont typeface="Courier New"/>
              <a:buNone/>
            </a:pPr>
            <a:r>
              <a:rPr b="0" i="0" lang="en-US" sz="825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glosses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042720" y="2813596"/>
            <a:ext cx="263866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['WORT1', 'WORT2', ...]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042720" y="3023146"/>
            <a:ext cx="263866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25"/>
              <a:buFont typeface="Courier New"/>
              <a:buNone/>
            </a:pPr>
            <a:r>
              <a:rPr b="0" i="0" lang="en-US" sz="825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handedness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042720" y="3188791"/>
            <a:ext cx="263866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(T, 2)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909370" y="3569791"/>
            <a:ext cx="2853630" cy="790426"/>
          </a:xfrm>
          <a:prstGeom prst="roundRect">
            <a:avLst>
              <a:gd fmla="val 9640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5"/>
          <p:cNvCxnSpPr/>
          <p:nvPr/>
        </p:nvCxnSpPr>
        <p:spPr>
          <a:xfrm>
            <a:off x="5928420" y="3569791"/>
            <a:ext cx="0" cy="790426"/>
          </a:xfrm>
          <a:prstGeom prst="straightConnector1">
            <a:avLst/>
          </a:prstGeom>
          <a:noFill/>
          <a:ln cap="flat" cmpd="sng" w="381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5"/>
          <p:cNvSpPr/>
          <p:nvPr/>
        </p:nvSpPr>
        <p:spPr>
          <a:xfrm>
            <a:off x="6061770" y="3684091"/>
            <a:ext cx="26386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Dataset Grösse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061770" y="3901232"/>
            <a:ext cx="26386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5.5 GB extrahierte Landmarks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061770" y="4099322"/>
            <a:ext cx="263866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Train/Dev/Test Splits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/>
          <p:nvPr/>
        </p:nvSpPr>
        <p:spPr>
          <a:xfrm>
            <a:off x="381000" y="304800"/>
            <a:ext cx="5071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Wort-Extraktion aus Sequenzen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81000" y="685800"/>
            <a:ext cx="854964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Gloss-Segmentierung anhand von Timestamps und Tokens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81000" y="1368177"/>
            <a:ext cx="455262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SEGMENTIERUNGS-PROZESS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81000" y="1642467"/>
            <a:ext cx="4463355" cy="643682"/>
          </a:xfrm>
          <a:prstGeom prst="roundRect">
            <a:avLst>
              <a:gd fmla="val 1183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23875" y="1849934"/>
            <a:ext cx="228600" cy="228600"/>
          </a:xfrm>
          <a:prstGeom prst="roundRect">
            <a:avLst>
              <a:gd fmla="val 4000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06326" y="1884164"/>
            <a:ext cx="6497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66775" y="1785342"/>
            <a:ext cx="170476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Satz-Level Sequenz laden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66775" y="1996678"/>
            <a:ext cx="170476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NPZ mit kompletter Satz-Annotation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81000" y="2400449"/>
            <a:ext cx="4463355" cy="643682"/>
          </a:xfrm>
          <a:prstGeom prst="roundRect">
            <a:avLst>
              <a:gd fmla="val 1183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23875" y="2607915"/>
            <a:ext cx="228600" cy="228600"/>
          </a:xfrm>
          <a:prstGeom prst="roundRect">
            <a:avLst>
              <a:gd fmla="val 400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06326" y="2642146"/>
            <a:ext cx="6497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866775" y="2543324"/>
            <a:ext cx="210674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Gloss-Timestamps parsen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866775" y="2754660"/>
            <a:ext cx="210674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Start/End Frame für jedes Wort identifizieren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381000" y="3158430"/>
            <a:ext cx="4463355" cy="643682"/>
          </a:xfrm>
          <a:prstGeom prst="roundRect">
            <a:avLst>
              <a:gd fmla="val 1183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23875" y="3365897"/>
            <a:ext cx="228600" cy="228600"/>
          </a:xfrm>
          <a:prstGeom prst="roundRect">
            <a:avLst>
              <a:gd fmla="val 40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06326" y="3400127"/>
            <a:ext cx="6497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866775" y="3301305"/>
            <a:ext cx="194886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Landmarks pro Wort extrahieren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866775" y="3512641"/>
            <a:ext cx="194886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Separate NPZ-Datei pro Gloss erstellen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381000" y="3916412"/>
            <a:ext cx="4463355" cy="731341"/>
          </a:xfrm>
          <a:prstGeom prst="roundRect">
            <a:avLst>
              <a:gd fmla="val 10419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95300" y="4030712"/>
            <a:ext cx="431945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Dateistruktur: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95300" y="4221212"/>
            <a:ext cx="431945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825"/>
              <a:buFont typeface="Courier New"/>
              <a:buNone/>
            </a:pPr>
            <a:r>
              <a:rPr b="0" i="0" lang="en-US" sz="825" u="none" cap="none" strike="noStrike">
                <a:solidFill>
                  <a:srgbClr val="F97316"/>
                </a:solidFill>
                <a:latin typeface="Courier New"/>
                <a:ea typeface="Courier New"/>
                <a:cs typeface="Courier New"/>
                <a:sym typeface="Courier New"/>
              </a:rPr>
              <a:t>OKTOBER_0000.npz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95300" y="4386858"/>
            <a:ext cx="431945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825"/>
              <a:buFont typeface="Courier New"/>
              <a:buNone/>
            </a:pPr>
            <a:r>
              <a:rPr b="0" i="0" lang="en-US" sz="825" u="none" cap="none" strike="noStrike">
                <a:solidFill>
                  <a:srgbClr val="F97316"/>
                </a:solidFill>
                <a:latin typeface="Courier New"/>
                <a:ea typeface="Courier New"/>
                <a:cs typeface="Courier New"/>
                <a:sym typeface="Courier New"/>
              </a:rPr>
              <a:t>WOLKE_0000.npz ...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111055" y="1455539"/>
            <a:ext cx="372498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ERGEBNIS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111055" y="1729829"/>
            <a:ext cx="3651945" cy="1310432"/>
          </a:xfrm>
          <a:prstGeom prst="roundRect">
            <a:avLst>
              <a:gd fmla="val 5815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229984" y="1882229"/>
            <a:ext cx="341408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EXTRAHIERTE WÖRTER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229984" y="2105025"/>
            <a:ext cx="3414087" cy="56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Georgia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35,433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229984" y="2741265"/>
            <a:ext cx="341408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NPZ Files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111055" y="3154561"/>
            <a:ext cx="1778347" cy="712440"/>
          </a:xfrm>
          <a:prstGeom prst="roundRect">
            <a:avLst>
              <a:gd fmla="val 106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5219573" y="3278386"/>
            <a:ext cx="156131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KLASSEN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5219573" y="3449836"/>
            <a:ext cx="1561311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50"/>
              <a:buFont typeface="Georgia"/>
              <a:buNone/>
            </a:pPr>
            <a:r>
              <a:rPr b="1" i="0" lang="en-US" sz="165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145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984653" y="3154561"/>
            <a:ext cx="1778347" cy="712440"/>
          </a:xfrm>
          <a:prstGeom prst="roundRect">
            <a:avLst>
              <a:gd fmla="val 106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7093171" y="3278386"/>
            <a:ext cx="156131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AVG FRAMES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7093171" y="3449836"/>
            <a:ext cx="1561311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50"/>
              <a:buFont typeface="Georgia"/>
              <a:buNone/>
            </a:pPr>
            <a:r>
              <a:rPr b="1" i="0" lang="en-US" sz="165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~30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5111055" y="3981301"/>
            <a:ext cx="3651945" cy="578941"/>
          </a:xfrm>
          <a:prstGeom prst="roundRect">
            <a:avLst>
              <a:gd fmla="val 13162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6"/>
          <p:cNvCxnSpPr/>
          <p:nvPr/>
        </p:nvCxnSpPr>
        <p:spPr>
          <a:xfrm>
            <a:off x="5130105" y="3981301"/>
            <a:ext cx="0" cy="578941"/>
          </a:xfrm>
          <a:prstGeom prst="straightConnector1">
            <a:avLst/>
          </a:prstGeom>
          <a:noFill/>
          <a:ln cap="flat" cmpd="sng" w="381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6"/>
          <p:cNvSpPr/>
          <p:nvPr/>
        </p:nvSpPr>
        <p:spPr>
          <a:xfrm>
            <a:off x="5263455" y="4095601"/>
            <a:ext cx="345294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Class Imbalance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5263455" y="4299347"/>
            <a:ext cx="345294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Verhältnis 593:1 zwischen häufigster und seltenster Klasse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/>
          <p:nvPr/>
        </p:nvSpPr>
        <p:spPr>
          <a:xfrm>
            <a:off x="381000" y="3048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Model Architektur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381000" y="685800"/>
            <a:ext cx="854964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TransformerSignClassifier mit Handedness Prediction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381000" y="916632"/>
            <a:ext cx="4914900" cy="350490"/>
          </a:xfrm>
          <a:prstGeom prst="roundRect">
            <a:avLst>
              <a:gd fmla="val 16306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29006" y="1011882"/>
            <a:ext cx="481888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Courier New"/>
                <a:ea typeface="Courier New"/>
                <a:cs typeface="Courier New"/>
                <a:sym typeface="Courier New"/>
              </a:rPr>
              <a:t>Input: [B, T, 1659]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331851" y="1343323"/>
            <a:ext cx="501319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381000" y="1606153"/>
            <a:ext cx="4914900" cy="337096"/>
          </a:xfrm>
          <a:prstGeom prst="roundRect">
            <a:avLst>
              <a:gd fmla="val 16954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29006" y="1701403"/>
            <a:ext cx="481888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Linear Projection → hidden_size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31851" y="2019449"/>
            <a:ext cx="501319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381000" y="2282279"/>
            <a:ext cx="4914900" cy="337096"/>
          </a:xfrm>
          <a:prstGeom prst="roundRect">
            <a:avLst>
              <a:gd fmla="val 16954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29006" y="2377529"/>
            <a:ext cx="481888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+ Learnable Positional Embedding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331851" y="2695575"/>
            <a:ext cx="501319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381000" y="2958405"/>
            <a:ext cx="4914900" cy="617190"/>
          </a:xfrm>
          <a:prstGeom prst="roundRect">
            <a:avLst>
              <a:gd fmla="val 926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467868" y="3091755"/>
            <a:ext cx="474116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TRANSFORMER ENCODER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67868" y="3282255"/>
            <a:ext cx="474116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Layers × 4 Heads × d=256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31851" y="3651796"/>
            <a:ext cx="501319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381000" y="3914626"/>
            <a:ext cx="4914900" cy="337096"/>
          </a:xfrm>
          <a:prstGeom prst="roundRect">
            <a:avLst>
              <a:gd fmla="val 16954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429006" y="4009876"/>
            <a:ext cx="481888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Global Average Pooling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331851" y="4327922"/>
            <a:ext cx="501319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381000" y="4590752"/>
            <a:ext cx="2400300" cy="337096"/>
          </a:xfrm>
          <a:prstGeom prst="roundRect">
            <a:avLst>
              <a:gd fmla="val 16954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54152" y="4686002"/>
            <a:ext cx="225399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Sign Head: 145 Klassen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2895600" y="4590752"/>
            <a:ext cx="2400300" cy="337096"/>
          </a:xfrm>
          <a:prstGeom prst="roundRect">
            <a:avLst>
              <a:gd fmla="val 16954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2968752" y="4686002"/>
            <a:ext cx="225399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Handedness: L/R/BOTH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5486400" y="1652885"/>
            <a:ext cx="3276600" cy="1043583"/>
          </a:xfrm>
          <a:prstGeom prst="roundRect">
            <a:avLst>
              <a:gd fmla="val 730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5629275" y="1795760"/>
            <a:ext cx="305066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MODEL STATISTIKEN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5629275" y="2037606"/>
            <a:ext cx="305066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Parameters: ~4M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5629275" y="2222302"/>
            <a:ext cx="305066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Hidden Size: 256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5629275" y="2406997"/>
            <a:ext cx="305066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Layers: 4, Heads: 4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486400" y="2791718"/>
            <a:ext cx="3276600" cy="578941"/>
          </a:xfrm>
          <a:prstGeom prst="roundRect">
            <a:avLst>
              <a:gd fmla="val 13162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7"/>
          <p:cNvCxnSpPr/>
          <p:nvPr/>
        </p:nvCxnSpPr>
        <p:spPr>
          <a:xfrm>
            <a:off x="5505450" y="2791718"/>
            <a:ext cx="0" cy="578941"/>
          </a:xfrm>
          <a:prstGeom prst="straightConnector1">
            <a:avLst/>
          </a:prstGeom>
          <a:noFill/>
          <a:ln cap="flat" cmpd="sng" w="381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7"/>
          <p:cNvSpPr/>
          <p:nvPr/>
        </p:nvSpPr>
        <p:spPr>
          <a:xfrm>
            <a:off x="5638800" y="2906018"/>
            <a:ext cx="307009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Handedness Detection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638800" y="3109764"/>
            <a:ext cx="307009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Multi-Task Learning: Sign + Händigkeit als Auxiliary Task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486400" y="3465909"/>
            <a:ext cx="3276600" cy="725537"/>
          </a:xfrm>
          <a:prstGeom prst="roundRect">
            <a:avLst>
              <a:gd fmla="val 10503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7"/>
          <p:cNvCxnSpPr/>
          <p:nvPr/>
        </p:nvCxnSpPr>
        <p:spPr>
          <a:xfrm>
            <a:off x="5505450" y="3465909"/>
            <a:ext cx="0" cy="725537"/>
          </a:xfrm>
          <a:prstGeom prst="straightConnector1">
            <a:avLst/>
          </a:prstGeom>
          <a:noFill/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7"/>
          <p:cNvSpPr/>
          <p:nvPr/>
        </p:nvSpPr>
        <p:spPr>
          <a:xfrm>
            <a:off x="5638800" y="3580209"/>
            <a:ext cx="307009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Warum Handedness?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638800" y="3783955"/>
            <a:ext cx="3070098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Links/Rechts ist semantisch kritisch für asymmetrische Gebärden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"/>
          <p:cNvSpPr/>
          <p:nvPr/>
        </p:nvSpPr>
        <p:spPr>
          <a:xfrm>
            <a:off x="381000" y="304800"/>
            <a:ext cx="534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Durchgeführte Optimierungen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81000" y="685800"/>
            <a:ext cx="854964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Von 67% auf 78% Accuracy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81000" y="1617315"/>
            <a:ext cx="457402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KONFIGURATIONSÄNDERUNGEN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381000" y="1872555"/>
            <a:ext cx="4484340" cy="560040"/>
          </a:xfrm>
          <a:prstGeom prst="roundRect">
            <a:avLst>
              <a:gd fmla="val 1360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8"/>
          <p:cNvCxnSpPr/>
          <p:nvPr/>
        </p:nvCxnSpPr>
        <p:spPr>
          <a:xfrm>
            <a:off x="400050" y="1872555"/>
            <a:ext cx="0" cy="560040"/>
          </a:xfrm>
          <a:prstGeom prst="straightConnector1">
            <a:avLst/>
          </a:prstGeom>
          <a:noFill/>
          <a:ln cap="flat" cmpd="sng" w="381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8"/>
          <p:cNvSpPr/>
          <p:nvPr/>
        </p:nvSpPr>
        <p:spPr>
          <a:xfrm>
            <a:off x="533400" y="1986855"/>
            <a:ext cx="430199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Balanced Softmax Loss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33400" y="2184946"/>
            <a:ext cx="430199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Adjustiert Logits basierend auf Class Priors → +11%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381000" y="2527846"/>
            <a:ext cx="4484340" cy="560040"/>
          </a:xfrm>
          <a:prstGeom prst="roundRect">
            <a:avLst>
              <a:gd fmla="val 1360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8"/>
          <p:cNvCxnSpPr/>
          <p:nvPr/>
        </p:nvCxnSpPr>
        <p:spPr>
          <a:xfrm>
            <a:off x="400050" y="2527846"/>
            <a:ext cx="0" cy="560040"/>
          </a:xfrm>
          <a:prstGeom prst="straightConnector1">
            <a:avLst/>
          </a:prstGeom>
          <a:noFill/>
          <a:ln cap="flat" cmpd="sng" w="38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8"/>
          <p:cNvSpPr/>
          <p:nvPr/>
        </p:nvSpPr>
        <p:spPr>
          <a:xfrm>
            <a:off x="533400" y="2642146"/>
            <a:ext cx="430199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Erweitertes Oversampling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33400" y="2840236"/>
            <a:ext cx="430199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15+ Minority-Klassen mit 3-5× Sampling → +18% LOW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381000" y="3183136"/>
            <a:ext cx="4484340" cy="560040"/>
          </a:xfrm>
          <a:prstGeom prst="roundRect">
            <a:avLst>
              <a:gd fmla="val 1360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8"/>
          <p:cNvCxnSpPr/>
          <p:nvPr/>
        </p:nvCxnSpPr>
        <p:spPr>
          <a:xfrm>
            <a:off x="400050" y="3183136"/>
            <a:ext cx="0" cy="560040"/>
          </a:xfrm>
          <a:prstGeom prst="straightConnector1">
            <a:avLst/>
          </a:prstGeom>
          <a:noFill/>
          <a:ln cap="flat" cmpd="sng" w="38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8"/>
          <p:cNvSpPr/>
          <p:nvPr/>
        </p:nvSpPr>
        <p:spPr>
          <a:xfrm>
            <a:off x="533400" y="3297436"/>
            <a:ext cx="430199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DROP_CLASSES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33400" y="3495526"/>
            <a:ext cx="430199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SUEDRAUM entfernt (Noise-Klasse)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381000" y="3838426"/>
            <a:ext cx="4484340" cy="560040"/>
          </a:xfrm>
          <a:prstGeom prst="roundRect">
            <a:avLst>
              <a:gd fmla="val 1360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8"/>
          <p:cNvCxnSpPr/>
          <p:nvPr/>
        </p:nvCxnSpPr>
        <p:spPr>
          <a:xfrm>
            <a:off x="400050" y="3838426"/>
            <a:ext cx="0" cy="560040"/>
          </a:xfrm>
          <a:prstGeom prst="straightConnector1">
            <a:avLst/>
          </a:prstGeom>
          <a:noFill/>
          <a:ln cap="flat" cmpd="sng" w="381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8"/>
          <p:cNvSpPr/>
          <p:nvPr/>
        </p:nvSpPr>
        <p:spPr>
          <a:xfrm>
            <a:off x="533400" y="3952726"/>
            <a:ext cx="430199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Längeres Training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533400" y="4150816"/>
            <a:ext cx="430199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400 Epochs mit Cosine Restarts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5093940" y="1891754"/>
            <a:ext cx="374244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DATA AUGMENTATION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5093940" y="2146995"/>
            <a:ext cx="3669060" cy="769441"/>
          </a:xfrm>
          <a:prstGeom prst="roundRect">
            <a:avLst>
              <a:gd fmla="val 9903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5227290" y="2280345"/>
            <a:ext cx="347040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LANDMARK OCCLUSION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5227290" y="2489895"/>
            <a:ext cx="3470407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Simuliert MediaPipe Tracking-Verlust: 15% Samples mit 5-15 Frame Occlusion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5093940" y="3011686"/>
            <a:ext cx="3669060" cy="641896"/>
          </a:xfrm>
          <a:prstGeom prst="roundRect">
            <a:avLst>
              <a:gd fmla="val 1187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5236815" y="3154561"/>
            <a:ext cx="345097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SPATIAL + TEMPORAL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5236815" y="3364111"/>
            <a:ext cx="345097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Rotation ±15°, Scale 0.9-1.1, Frame Dropout 10%, Speed 90-110%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093940" y="3748832"/>
            <a:ext cx="3669060" cy="375196"/>
          </a:xfrm>
          <a:prstGeom prst="roundRect">
            <a:avLst>
              <a:gd fmla="val 20309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5208240" y="3863132"/>
            <a:ext cx="350926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Robuster gegen Real-World Bedingungen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"/>
          <p:cNvSpPr/>
          <p:nvPr/>
        </p:nvSpPr>
        <p:spPr>
          <a:xfrm>
            <a:off x="381000" y="304800"/>
            <a:ext cx="5654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Ergebnisse: Baseline vs. Optimiert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381000" y="685800"/>
            <a:ext cx="854964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Signifikante Verbesserung durch Class Imbalance Handling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c67f1204.png" id="289" name="Google Shape;2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265039"/>
            <a:ext cx="3972818" cy="1740991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9"/>
          <p:cNvSpPr/>
          <p:nvPr/>
        </p:nvSpPr>
        <p:spPr>
          <a:xfrm>
            <a:off x="574444" y="1493639"/>
            <a:ext cx="358593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ACCURACY IMPROVEMENT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574444" y="1729829"/>
            <a:ext cx="3585930" cy="746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+11.4%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574444" y="2590800"/>
            <a:ext cx="358593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67.16% → 78.54%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4544318" y="1674465"/>
            <a:ext cx="2052191" cy="921990"/>
          </a:xfrm>
          <a:prstGeom prst="roundRect">
            <a:avLst>
              <a:gd fmla="val 8265" name="adj"/>
            </a:avLst>
          </a:prstGeom>
          <a:solidFill>
            <a:srgbClr val="FEF2F2"/>
          </a:solidFill>
          <a:ln cap="flat" cmpd="sng" w="1905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4679244" y="1826865"/>
            <a:ext cx="178233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4679244" y="2017365"/>
            <a:ext cx="1782339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67.2%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6710809" y="1674465"/>
            <a:ext cx="2052191" cy="921990"/>
          </a:xfrm>
          <a:prstGeom prst="roundRect">
            <a:avLst>
              <a:gd fmla="val 8265" name="adj"/>
            </a:avLst>
          </a:prstGeom>
          <a:solidFill>
            <a:srgbClr val="ECFDF5"/>
          </a:solidFill>
          <a:ln cap="flat" cmpd="sng" w="19050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6845735" y="1826865"/>
            <a:ext cx="178233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OPTIMIERT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6845735" y="2017365"/>
            <a:ext cx="1782339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78.5%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381000" y="3158430"/>
            <a:ext cx="8382000" cy="1592312"/>
          </a:xfrm>
          <a:prstGeom prst="roundRect">
            <a:avLst>
              <a:gd fmla="val 478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542925" y="3320355"/>
            <a:ext cx="821931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ACCURACY NACH SAMPLE COUNT (STRATA)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517081" y="3594646"/>
            <a:ext cx="263608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LOW (0-100 Samples)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517081" y="3804196"/>
            <a:ext cx="263608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57% → 75%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517081" y="4181326"/>
            <a:ext cx="263608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+18.2%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3253881" y="3594646"/>
            <a:ext cx="263608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MID (100-300 Samples)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3253881" y="3804196"/>
            <a:ext cx="263608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68% → 79%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3253881" y="4181326"/>
            <a:ext cx="263608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+11.1%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5990682" y="3594646"/>
            <a:ext cx="263608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HIGH (300+ Samples)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5990682" y="3804196"/>
            <a:ext cx="263608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68% → 78%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5990682" y="4181326"/>
            <a:ext cx="263608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+9.9%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462344" y="4442222"/>
            <a:ext cx="8219313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LOW vs HIGH Gap: -11.2% → -2.9% (fast ausgeglichen!)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"/>
          <p:cNvSpPr/>
          <p:nvPr/>
        </p:nvSpPr>
        <p:spPr>
          <a:xfrm>
            <a:off x="381000" y="3048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Klassen-Analyse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381000" y="685800"/>
            <a:ext cx="854964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Top Performer vs. Problem-Klassen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381000" y="1790849"/>
            <a:ext cx="4076700" cy="375196"/>
          </a:xfrm>
          <a:prstGeom prst="roundRect">
            <a:avLst>
              <a:gd fmla="val 20309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10"/>
          <p:cNvCxnSpPr/>
          <p:nvPr/>
        </p:nvCxnSpPr>
        <p:spPr>
          <a:xfrm>
            <a:off x="400050" y="1790849"/>
            <a:ext cx="0" cy="375196"/>
          </a:xfrm>
          <a:prstGeom prst="straightConnector1">
            <a:avLst/>
          </a:prstGeom>
          <a:noFill/>
          <a:ln cap="flat" cmpd="sng" w="381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10"/>
          <p:cNvSpPr/>
          <p:nvPr/>
        </p:nvSpPr>
        <p:spPr>
          <a:xfrm>
            <a:off x="533400" y="1905149"/>
            <a:ext cx="388620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TOP PERFORMER (F1 &gt; 0.95)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381000" y="2261295"/>
            <a:ext cx="4076700" cy="1531441"/>
          </a:xfrm>
          <a:prstGeom prst="roundRect">
            <a:avLst>
              <a:gd fmla="val 49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523875" y="2404170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SAMSTAG: 0.99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523875" y="2621310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WECHSELHAFT: 0.99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523875" y="2838450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SECHS: 0.98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523875" y="3055590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WIE-AUSSEHEN: 0.98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523875" y="3272730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FREITAG: 0.97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523875" y="3489871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SONNE, WETTER: 0.95+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381000" y="3887986"/>
            <a:ext cx="4076700" cy="337096"/>
          </a:xfrm>
          <a:prstGeom prst="roundRect">
            <a:avLst>
              <a:gd fmla="val 22605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437388" y="3983236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Wochentage und Wetter-Begriffe sehr gut erkannt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4686300" y="1899345"/>
            <a:ext cx="4076700" cy="375196"/>
          </a:xfrm>
          <a:prstGeom prst="roundRect">
            <a:avLst>
              <a:gd fmla="val 20309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" name="Google Shape;331;p10"/>
          <p:cNvCxnSpPr/>
          <p:nvPr/>
        </p:nvCxnSpPr>
        <p:spPr>
          <a:xfrm>
            <a:off x="4705350" y="1899345"/>
            <a:ext cx="0" cy="375196"/>
          </a:xfrm>
          <a:prstGeom prst="straightConnector1">
            <a:avLst/>
          </a:prstGeom>
          <a:noFill/>
          <a:ln cap="flat" cmpd="sng" w="381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10"/>
          <p:cNvSpPr/>
          <p:nvPr/>
        </p:nvSpPr>
        <p:spPr>
          <a:xfrm>
            <a:off x="4838700" y="2013645"/>
            <a:ext cx="388620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PROBLEM-KLASSEN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4686300" y="2369790"/>
            <a:ext cx="4076700" cy="1314301"/>
          </a:xfrm>
          <a:prstGeom prst="roundRect">
            <a:avLst>
              <a:gd fmla="val 579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4829175" y="2512665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HAUPTSAECHLICH: 0.00 → DROP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4829175" y="2729805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BEWOELKT: 0.36 (weather)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4829175" y="2946946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NOCH: 0.38 (connector)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4829175" y="3164086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MEER: 0.38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4829175" y="3381226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HABEN: 0.42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4686300" y="3779341"/>
            <a:ext cx="4076700" cy="337096"/>
          </a:xfrm>
          <a:prstGeom prst="roundRect">
            <a:avLst>
              <a:gd fmla="val 22605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4781550" y="3874591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Nächste Schritte: Expert-Models für Confusion-Cluster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1"/>
          <p:cNvSpPr/>
          <p:nvPr/>
        </p:nvSpPr>
        <p:spPr>
          <a:xfrm>
            <a:off x="381000" y="304800"/>
            <a:ext cx="6108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Zusammenfassung und Ausblick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381000" y="1827907"/>
            <a:ext cx="4076700" cy="375196"/>
          </a:xfrm>
          <a:prstGeom prst="roundRect">
            <a:avLst>
              <a:gd fmla="val 20309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p11"/>
          <p:cNvCxnSpPr/>
          <p:nvPr/>
        </p:nvCxnSpPr>
        <p:spPr>
          <a:xfrm>
            <a:off x="400050" y="1827907"/>
            <a:ext cx="0" cy="375196"/>
          </a:xfrm>
          <a:prstGeom prst="straightConnector1">
            <a:avLst/>
          </a:prstGeom>
          <a:noFill/>
          <a:ln cap="flat" cmpd="sng" w="381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11"/>
          <p:cNvSpPr/>
          <p:nvPr/>
        </p:nvSpPr>
        <p:spPr>
          <a:xfrm>
            <a:off x="533400" y="1942207"/>
            <a:ext cx="388620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ERREICHTE ZIELE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381000" y="2298353"/>
            <a:ext cx="4076700" cy="1626691"/>
          </a:xfrm>
          <a:prstGeom prst="roundRect">
            <a:avLst>
              <a:gd fmla="val 46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523875" y="2441228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✓ Phase 1: Fingeralphabet mit 99.6% Accuracy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523875" y="2677418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✓ Landmark Extraktion aus Phoenix Dataset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523875" y="2913608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✓ Wort-Segmentierung: 35k isolierte Gebärden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523875" y="3149798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✓ +11.4% Accuracy durch Balanced Softmax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523875" y="3385989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✓ Class Imbalance Gap: -11% → -3%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523875" y="3622179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✓ MLflow Tracking und Cross-Platform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4686300" y="1143149"/>
            <a:ext cx="4076700" cy="375196"/>
          </a:xfrm>
          <a:prstGeom prst="roundRect">
            <a:avLst>
              <a:gd fmla="val 20309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11"/>
          <p:cNvCxnSpPr/>
          <p:nvPr/>
        </p:nvCxnSpPr>
        <p:spPr>
          <a:xfrm>
            <a:off x="4705350" y="1143149"/>
            <a:ext cx="0" cy="375196"/>
          </a:xfrm>
          <a:prstGeom prst="straightConnector1">
            <a:avLst/>
          </a:prstGeom>
          <a:noFill/>
          <a:ln cap="flat" cmpd="sng" w="381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11"/>
          <p:cNvSpPr/>
          <p:nvPr/>
        </p:nvSpPr>
        <p:spPr>
          <a:xfrm>
            <a:off x="4838700" y="1257449"/>
            <a:ext cx="388620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NÄCHSTE SCHRITTE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4686300" y="1613595"/>
            <a:ext cx="4076700" cy="540990"/>
          </a:xfrm>
          <a:prstGeom prst="roundRect">
            <a:avLst>
              <a:gd fmla="val 1408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4791075" y="1718370"/>
            <a:ext cx="394449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1. Kleineres Model trainieren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4791075" y="1916460"/>
            <a:ext cx="394449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Hidden 256, 4 Layers → weniger Overfitting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4686300" y="2249835"/>
            <a:ext cx="4076700" cy="540990"/>
          </a:xfrm>
          <a:prstGeom prst="roundRect">
            <a:avLst>
              <a:gd fmla="val 1408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4791075" y="2354610"/>
            <a:ext cx="394449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2. Expert Models für Confusion-Cluster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4791075" y="2552700"/>
            <a:ext cx="394449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Direction, Weather, Connector Experts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4686300" y="2886075"/>
            <a:ext cx="4076700" cy="540990"/>
          </a:xfrm>
          <a:prstGeom prst="roundRect">
            <a:avLst>
              <a:gd fmla="val 1408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4791075" y="2990850"/>
            <a:ext cx="394449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3. GUI Integration und Real-Time 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4791075" y="3188940"/>
            <a:ext cx="394449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Ziel: 24+ FPS auf Consumer-Hardware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4686300" y="3522315"/>
            <a:ext cx="4076700" cy="1087636"/>
          </a:xfrm>
          <a:prstGeom prst="roundRect">
            <a:avLst>
              <a:gd fmla="val 7006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4781550" y="3655665"/>
            <a:ext cx="38862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AKTUELLER STAND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4781550" y="3846165"/>
            <a:ext cx="38862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78.5% Accuracy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4781550" y="4330005"/>
            <a:ext cx="388620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auf 145 Gloss-Klassen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2"/>
          <p:cNvSpPr/>
          <p:nvPr/>
        </p:nvSpPr>
        <p:spPr>
          <a:xfrm>
            <a:off x="3265721" y="593527"/>
            <a:ext cx="26125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Vielen Dank!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3677568" y="1788915"/>
            <a:ext cx="1788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Fragen und Diskussion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4191000" y="2205038"/>
            <a:ext cx="7620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3490697" y="2767013"/>
            <a:ext cx="216245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Roman Schläpfer und Andrei Chirila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3530772" y="3220343"/>
            <a:ext cx="208245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OST - Ostschweizer Fachhochschule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2025-12-02T21:06:38Z</dcterms:created>
  <dc:creator>Roman Schläpfer &amp; Andrei Chirila</dc:creator>
</cp:coreProperties>
</file>